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9b57459754e61" /><Relationship Type="http://schemas.openxmlformats.org/officeDocument/2006/relationships/extended-properties" Target="/docProps/app.xml" Id="R09fc82d7ff38493f" /><Relationship Type="http://schemas.openxmlformats.org/officeDocument/2006/relationships/officeDocument" Target="/ppt/presentation.xml" Id="R3bafc18007e7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02395178f43ad"/>
  </p:sldMasterIdLst>
  <p:notesMasterIdLst>
    <p:notesMasterId xmlns:r="http://schemas.openxmlformats.org/officeDocument/2006/relationships" r:id="R1342f38395844a34"/>
  </p:notesMasterIdLst>
  <p:sldIdLst>
    <p:sldId xmlns:r="http://schemas.openxmlformats.org/officeDocument/2006/relationships" id="256" r:id="R8f035fda5ba04c1f"/>
    <p:sldId xmlns:r="http://schemas.openxmlformats.org/officeDocument/2006/relationships" id="257" r:id="Rd0ce1b2acedb49cc"/>
    <p:sldId xmlns:r="http://schemas.openxmlformats.org/officeDocument/2006/relationships" id="258" r:id="R11302589b7894260"/>
    <p:sldId xmlns:r="http://schemas.openxmlformats.org/officeDocument/2006/relationships" id="259" r:id="Rda5701bf526b4596"/>
    <p:sldId xmlns:r="http://schemas.openxmlformats.org/officeDocument/2006/relationships" id="260" r:id="R2f8708ed1d4f408b"/>
    <p:sldId xmlns:r="http://schemas.openxmlformats.org/officeDocument/2006/relationships" id="261" r:id="R543d9bcc2a4943a9"/>
    <p:sldId xmlns:r="http://schemas.openxmlformats.org/officeDocument/2006/relationships" id="262" r:id="Ra9f371b72e974079"/>
    <p:sldId xmlns:r="http://schemas.openxmlformats.org/officeDocument/2006/relationships" id="263" r:id="R0f0cb967f07945d1"/>
    <p:sldId xmlns:r="http://schemas.openxmlformats.org/officeDocument/2006/relationships" id="264" r:id="Re6ed6f4d2e434d2a"/>
    <p:sldId xmlns:r="http://schemas.openxmlformats.org/officeDocument/2006/relationships" id="265" r:id="R04fbc2ed94de4dc2"/>
    <p:sldId xmlns:r="http://schemas.openxmlformats.org/officeDocument/2006/relationships" id="266" r:id="R25d56327b4914243"/>
    <p:sldId xmlns:r="http://schemas.openxmlformats.org/officeDocument/2006/relationships" id="267" r:id="R58fb1662301d4c07"/>
    <p:sldId xmlns:r="http://schemas.openxmlformats.org/officeDocument/2006/relationships" id="268" r:id="Rfe7c3ba32d8f42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174fd92644ee4" /><Relationship Type="http://schemas.openxmlformats.org/officeDocument/2006/relationships/slideMaster" Target="/ppt/slideMasters/slideMaster1.xml" Id="R90e02395178f43ad" /><Relationship Type="http://schemas.openxmlformats.org/officeDocument/2006/relationships/notesMaster" Target="/ppt/notesMasters/notesMaster1.xml" Id="R1342f38395844a34" /><Relationship Type="http://schemas.openxmlformats.org/officeDocument/2006/relationships/presProps" Target="/ppt/presProps.xml" Id="Rc1a82a3a477241a9" /><Relationship Type="http://schemas.openxmlformats.org/officeDocument/2006/relationships/tableStyles" Target="/ppt/tableStyles.xml" Id="R1b676edb4b324dcf" /><Relationship Type="http://schemas.openxmlformats.org/officeDocument/2006/relationships/slide" Target="/ppt/slides/slide1.xml" Id="R8f035fda5ba04c1f" /><Relationship Type="http://schemas.openxmlformats.org/officeDocument/2006/relationships/slide" Target="/ppt/slides/slide2.xml" Id="Rd0ce1b2acedb49cc" /><Relationship Type="http://schemas.openxmlformats.org/officeDocument/2006/relationships/slide" Target="/ppt/slides/slide3.xml" Id="R11302589b7894260" /><Relationship Type="http://schemas.openxmlformats.org/officeDocument/2006/relationships/slide" Target="/ppt/slides/slide4.xml" Id="Rda5701bf526b4596" /><Relationship Type="http://schemas.openxmlformats.org/officeDocument/2006/relationships/slide" Target="/ppt/slides/slide5.xml" Id="R2f8708ed1d4f408b" /><Relationship Type="http://schemas.openxmlformats.org/officeDocument/2006/relationships/slide" Target="/ppt/slides/slide6.xml" Id="R543d9bcc2a4943a9" /><Relationship Type="http://schemas.openxmlformats.org/officeDocument/2006/relationships/slide" Target="/ppt/slides/slide7.xml" Id="Ra9f371b72e974079" /><Relationship Type="http://schemas.openxmlformats.org/officeDocument/2006/relationships/slide" Target="/ppt/slides/slide8.xml" Id="R0f0cb967f07945d1" /><Relationship Type="http://schemas.openxmlformats.org/officeDocument/2006/relationships/slide" Target="/ppt/slides/slide9.xml" Id="Re6ed6f4d2e434d2a" /><Relationship Type="http://schemas.openxmlformats.org/officeDocument/2006/relationships/slide" Target="/ppt/slides/slide10.xml" Id="R04fbc2ed94de4dc2" /><Relationship Type="http://schemas.openxmlformats.org/officeDocument/2006/relationships/slide" Target="/ppt/slides/slide11.xml" Id="R25d56327b4914243" /><Relationship Type="http://schemas.openxmlformats.org/officeDocument/2006/relationships/slide" Target="/ppt/slides/slide12.xml" Id="R58fb1662301d4c07" /><Relationship Type="http://schemas.openxmlformats.org/officeDocument/2006/relationships/slide" Target="/ppt/slides/slide13.xml" Id="Rfe7c3ba32d8f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a9f4c7a79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25f5b6a004913" /><Relationship Type="http://schemas.openxmlformats.org/officeDocument/2006/relationships/notesMaster" Target="/ppt/notesMasters/notesMaster1.xml" Id="R08c75a284bac4a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555d72a4b4427a" /><Relationship Type="http://schemas.openxmlformats.org/officeDocument/2006/relationships/notesMaster" Target="/ppt/notesMasters/notesMaster1.xml" Id="R0bf01849bbc54a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a0ddfd2884ba0" /><Relationship Type="http://schemas.openxmlformats.org/officeDocument/2006/relationships/notesMaster" Target="/ppt/notesMasters/notesMaster1.xml" Id="R3304709daaff4f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9b25c4bc134d1c" /><Relationship Type="http://schemas.openxmlformats.org/officeDocument/2006/relationships/notesMaster" Target="/ppt/notesMasters/notesMaster1.xml" Id="R8ef36df8b2dc48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099b0ce2fd4be3" /><Relationship Type="http://schemas.openxmlformats.org/officeDocument/2006/relationships/notesMaster" Target="/ppt/notesMasters/notesMaster1.xml" Id="R1c46f0e391c043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a9e63b6fbb42ef" /><Relationship Type="http://schemas.openxmlformats.org/officeDocument/2006/relationships/notesMaster" Target="/ppt/notesMasters/notesMaster1.xml" Id="R2d55c5ed3fbc4f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9433cf3b9740e1" /><Relationship Type="http://schemas.openxmlformats.org/officeDocument/2006/relationships/notesMaster" Target="/ppt/notesMasters/notesMaster1.xml" Id="R2402194d3ba946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75e801aa9e41cc" /><Relationship Type="http://schemas.openxmlformats.org/officeDocument/2006/relationships/notesMaster" Target="/ppt/notesMasters/notesMaster1.xml" Id="R4ddb5b79349846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3cdbf4b0e14381" /><Relationship Type="http://schemas.openxmlformats.org/officeDocument/2006/relationships/notesMaster" Target="/ppt/notesMasters/notesMaster1.xml" Id="Rf7ed26c5575c4d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327380b6474ff2" /><Relationship Type="http://schemas.openxmlformats.org/officeDocument/2006/relationships/notesMaster" Target="/ppt/notesMasters/notesMaster1.xml" Id="R85183f43730a45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86f89d80d844fb" /><Relationship Type="http://schemas.openxmlformats.org/officeDocument/2006/relationships/notesMaster" Target="/ppt/notesMasters/notesMaster1.xml" Id="R778084a1a4394a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f62640b0bf4250" /><Relationship Type="http://schemas.openxmlformats.org/officeDocument/2006/relationships/notesMaster" Target="/ppt/notesMasters/notesMaster1.xml" Id="R21ae7b9c57114f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07d3e8e22e44d4" /><Relationship Type="http://schemas.openxmlformats.org/officeDocument/2006/relationships/notesMaster" Target="/ppt/notesMasters/notesMaster1.xml" Id="R60f62baec9b149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261604c5d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549245f7240b0" /><Relationship Type="http://schemas.openxmlformats.org/officeDocument/2006/relationships/slideLayout" Target="/ppt/slideLayouts/slideLayout1.xml" Id="R3ae04ca88b2e49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04ca88b2e49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640f20ebc4786" /><Relationship Type="http://schemas.openxmlformats.org/officeDocument/2006/relationships/notesSlide" Target="/ppt/notesSlides/notesSlide1.xml" Id="Rb0afa2c17d7b49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7bf0e72c34ca4" /><Relationship Type="http://schemas.openxmlformats.org/officeDocument/2006/relationships/notesSlide" Target="/ppt/notesSlides/notesSlide2.xml" Id="Re27026c1553049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7c1d1187e44a2" /><Relationship Type="http://schemas.openxmlformats.org/officeDocument/2006/relationships/notesSlide" Target="/ppt/notesSlides/notesSlide3.xml" Id="R1dce520a63ad47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eb8ed3ac6451d" /><Relationship Type="http://schemas.openxmlformats.org/officeDocument/2006/relationships/notesSlide" Target="/ppt/notesSlides/notesSlide4.xml" Id="R559d0bc99e25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f28d4ece4928" /><Relationship Type="http://schemas.openxmlformats.org/officeDocument/2006/relationships/notesSlide" Target="/ppt/notesSlides/notesSlide5.xml" Id="R4e30dafd935744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c152cc13b414c" /><Relationship Type="http://schemas.openxmlformats.org/officeDocument/2006/relationships/image" Target="/ppt/media/image.png" Id="Rc91b3b34904c4569" /><Relationship Type="http://schemas.openxmlformats.org/officeDocument/2006/relationships/notesSlide" Target="/ppt/notesSlides/notesSlide6.xml" Id="Rc922225f77e0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bcba208144b68" /><Relationship Type="http://schemas.openxmlformats.org/officeDocument/2006/relationships/notesSlide" Target="/ppt/notesSlides/notesSlide7.xml" Id="R812df91786e0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d00a413124b3d" /><Relationship Type="http://schemas.openxmlformats.org/officeDocument/2006/relationships/image" Target="/ppt/media/image2.png" Id="R61dbf268a0de44a7" /><Relationship Type="http://schemas.openxmlformats.org/officeDocument/2006/relationships/notesSlide" Target="/ppt/notesSlides/notesSlide8.xml" Id="R387a3c6cfcf446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7d0bb2e49443f" /><Relationship Type="http://schemas.openxmlformats.org/officeDocument/2006/relationships/notesSlide" Target="/ppt/notesSlides/notesSlide9.xml" Id="Re6f5487941eb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ad456d41949ff" /><Relationship Type="http://schemas.openxmlformats.org/officeDocument/2006/relationships/notesSlide" Target="/ppt/notesSlides/notesSlide10.xml" Id="R6f6a01b7dc094b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fe849bb7b4d52" /><Relationship Type="http://schemas.openxmlformats.org/officeDocument/2006/relationships/notesSlide" Target="/ppt/notesSlides/notesSlide11.xml" Id="R86ca98ce64724d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91b20b02348d6" /><Relationship Type="http://schemas.openxmlformats.org/officeDocument/2006/relationships/notesSlide" Target="/ppt/notesSlides/notesSlide12.xml" Id="Red2b3658800746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1c361f7764067" /><Relationship Type="http://schemas.openxmlformats.org/officeDocument/2006/relationships/notesSlide" Target="/ppt/notesSlides/notesSlide13.xml" Id="Rbc1a4699f84b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A121C-C97A-491B-864B-2BA4300C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DUEPROCESS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EB99F-6FA1-476F-91EB-77926472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828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43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Evidence-to-action legal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3F74F-44ED-4B2D-B656-7B4CC4A0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0D6"/>
                </a:solidFill>
                <a:latin typeface="Helvetica Neue"/>
                <a:ea typeface="Helvetica Neue"/>
                <a:cs typeface="Helvetica Neue"/>
              </a:rPr>
              <a:t>A source-bound engine for turning messy legal records into violation maps, QC-cleared reports, writ packets, and exportable work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6194A-A47E-40C3-878C-DD46FE11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57175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2632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10762-0991-435E-B7F6-D024760D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a legal chatbot.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7F9D8-20E6-470C-A7F7-B86CA2BE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0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9D0D6"/>
                </a:solidFill>
                <a:latin typeface="Helvetica Neue"/>
                <a:ea typeface="Helvetica Neue"/>
                <a:cs typeface="Helvetica Neue"/>
              </a:rPr>
              <a:t>The product is the packet: source facts, gaps, adverse facts, QC status, and court-safe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C4A63-6204-47D2-A910-4D8A8A8C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00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Private beta command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2045D-DD74-4443-85C0-BEB122AE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3BA"/>
                </a:solidFill>
                <a:latin typeface="Helvetica Neue"/>
                <a:ea typeface="Helvetica Neue"/>
                <a:cs typeface="Helvetica Neue"/>
              </a:rPr>
              <a:t>2026-06-30</a:t>
            </a:r>
          </a:p>
        </p:txBody>
      </p:sp>
    </p:spTree>
    <p:extLst>
      <p:ext uri="{BB962C8B-B14F-4D97-AF65-F5344CB8AC3E}">
        <p14:creationId xmlns:p14="http://schemas.microsoft.com/office/powerpoint/2010/main" val="776824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C5C5E-90A6-44EC-A339-5DBA665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MARKET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5226B-85D8-4C8D-B29C-4DDFF7FE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4F763-8E8E-4402-B433-8AB648C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market is not short on legal AI. It is short on reviewable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0FEBD-F958-429A-B6E6-CF04AA57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2476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71E24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1967-EA0C-4923-AE96-EFDA8B7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1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92%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7F6A-C129-4AD4-B0B8-FC00BC93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1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5E1D8"/>
                </a:solidFill>
                <a:latin typeface="Helvetica Neue"/>
                <a:ea typeface="Helvetica Neue"/>
                <a:cs typeface="Helvetica Neue"/>
              </a:rPr>
              <a:t>of substantial civil legal problems get no or not enough legal help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52DC5-A663-40B1-ACA2-7650BFD2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476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182A8-7898-45F0-97DB-C0FFB79B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1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1 in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D959D-70B7-4A35-88EF-503F4C8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LSC-funded legal-aid requests are turned away for limited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B4451-C93B-41FC-AE95-2837B36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476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08230-6024-4A69-9881-A0C5193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1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803E-3BF0-4BEA-A927-2B8B11CF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of professional organizations now use GenAI, up from 22%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CE1C8-E30B-4DE1-BE47-CDA38EA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476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57230-8FAB-4A5B-97A9-7167562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1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18%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9A7A3-84B7-48BB-9F0B-261E90CE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of professionals say their organizations track AI ROI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95E52-CF61-40DD-80AE-77930F4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Translation: buyers do not need more generated paragraphs. They need evidence compression, source anchors, issue ranking, and outputs that a human can trust or reject fast.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E1995-29C6-46D8-9096-E8255469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Sources: LSC Justice Gap Study; Thomson Reuters 2026 AI in Professional Services Report.</a:t>
            </a:r>
          </a:p>
        </p:txBody>
      </p:sp>
    </p:spTree>
    <p:extLst>
      <p:ext uri="{BB962C8B-B14F-4D97-AF65-F5344CB8AC3E}">
        <p14:creationId xmlns:p14="http://schemas.microsoft.com/office/powerpoint/2010/main" val="111807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E9C9F-2A2D-4E20-B02D-D117B2C9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7021F-EE9C-403A-90BE-244DF2B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39F9A-CC5E-40EB-A6CF-A5145C6F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1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wedge is a proof packet, not broad SaaS theatre.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15D5A-F8F9-4548-BEFD-61CF716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44B4D-197C-4A3F-BA23-2818A70A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782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Sell a judgment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A64EB-6FFC-49E0-9178-76371E6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782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A buyer can evaluate a packet outside the app: timeline, violation ledger, missing records, adverse facts, source appendix.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35589-9B9C-4015-B735-7B5FA9A7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7B1B-F468-4066-9B3D-91D47CF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782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Run one ugly real 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B7953-6001-468E-A258-7191B29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782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Selected files first, then whole case. It must survive bad OCR, duplicates, stale docs, and low-confidence findings.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E1183-3097-4A28-B80A-49FC693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AC8BA-B9E6-41B6-ACD4-6F3F401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782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Measure the human review 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BDD01-C866-4910-B1B1-F0182BA1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82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The value is not magic. It is fewer hours wasted finding what matters and fewer unsupported claims sneaking into filings.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F511E-62A5-45E8-858A-EEC86C4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C7456-943F-4406-9903-6E028E3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82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Only then pitch recurring software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AC506-066C-4990-A11C-4B3946B0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782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If the artifact cannot be exported and understood by a stranger, it is not a sellable lane yet.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67388-0D6A-4334-B2AD-8C3CC279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025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1016"/>
          </a:solidFill>
          <a:ln xmlns:a="http://schemas.openxmlformats.org/drawingml/2006/main" w="9525">
            <a:solidFill>
              <a:srgbClr val="2732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601A6-E5D6-42E8-93C5-F562BA54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Category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0C83C-FF50-4042-B4F6-484C401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947D3-BAC8-435F-B3C4-9056418E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CE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5CED5"/>
                </a:solidFill>
                <a:latin typeface="Helvetica Neue"/>
                <a:ea typeface="Helvetica Neue"/>
                <a:cs typeface="Helvetica Neue"/>
              </a:rPr>
              <a:t>The chat is the steering wheel. The packet is the product.</a:t>
            </a:r>
          </a:p>
        </p:txBody>
      </p:sp>
    </p:spTree>
    <p:extLst>
      <p:ext uri="{BB962C8B-B14F-4D97-AF65-F5344CB8AC3E}">
        <p14:creationId xmlns:p14="http://schemas.microsoft.com/office/powerpoint/2010/main" val="198436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1CD32-4C19-4717-89CB-4FE7D5EA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49100-B057-44E5-AE95-2DFA806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7BEEE-F0C2-45E9-9D7E-D514CDD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642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backend job: keep every conclusion tied to a source or downgrade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6C071-9F97-4975-A738-06C6697B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24829-A509-445F-B497-3F502F43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E5F39-A158-47BF-B240-0E7B117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FB7E-7231-4684-A87A-E19827E7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Upload, OCR, dedupe, hash, classify.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F3073-79CE-4BDB-BF04-B98FE69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0C7C8-7570-4060-9B7D-C1669AF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6301D-B256-4329-9B34-D1B94AE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16304-7107-4A48-ACA4-F04E8ACB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Extracted text, source SHA, quote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521BF-0477-4CF2-9585-48E928A7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897EC-7E49-472E-9B07-BDD01EB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07E1F-ECE9-4493-999F-DEE73BC8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1A45C-2E91-4D4D-BE63-AB0A449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Agents produce structured findings.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67873-603A-4092-964F-B9118859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3B158-5142-47AD-8EEC-58D4B01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565BC-4805-439A-8424-01B85B2F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QC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16213-6AEB-4EB5-A570-ED306AB3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Block, downgrade, approve, demand more proof.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AD3A5-F336-491B-83F8-FFBDB76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BA8CB-E9D6-45C5-908D-9181B5E0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B60EC-2D1C-4880-80AA-2476EE48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061B7-DC51-433E-AE47-F6C07DB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Combine findings into one work-product packet.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348DC-6653-4949-8C9E-B94BF68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1908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141E4-56EC-48A1-97DD-FE54F0F9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84391-C0A9-4233-869A-D6C00757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374CB-D2AC-4555-AD58-C891FC9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PDF/DOCX/Markdown with appendix and warnings.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D0640-63AB-4D70-A3C8-87B26F9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Design rule: missing records are valuable, but they are demands/gaps, not proven misconduct.</a:t>
            </a:r>
          </a:p>
        </p:txBody>
      </p:sp>
    </p:spTree>
    <p:extLst>
      <p:ext uri="{BB962C8B-B14F-4D97-AF65-F5344CB8AC3E}">
        <p14:creationId xmlns:p14="http://schemas.microsoft.com/office/powerpoint/2010/main" val="465601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FC7CB-0C61-4BC2-A1FA-0166D14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FIRST CUSTOMER BASES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AECE-F4F4-4C70-8A45-FC50543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25AF-A4EF-4DC7-8424-A6B72BCB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9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Start where the records are painful and the artifact is judgeable.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2374B-78C4-47FF-850C-1BDE35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54C4-ECE1-4251-B1EE-E59D38F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Pro se Case Builder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40971-6E3D-4FAB-B618-E0102F2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One narrow case packet a non-lawyer can follow.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718C8-BFDB-4E8A-A211-14C7F08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92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$99/mo or $149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DEB15-DA24-48F5-9F8F-5F4EC554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60ECB-31F3-40EA-9D5A-78DF475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Civil-rights firm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5E997-ACF8-4BFA-B1FE-1CB9FC2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Leverage memo with Monell gaps, immunity routes, adverse facts.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D8C07-F971-4340-A6B8-B1CED866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$499-$1.5k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AE66A-17F8-4AE8-8147-534F86EA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FB77F-F935-47C9-BA31-1581A64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Defense / habeas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FE0DB-11C0-4155-B998-384DF6C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Transcript, Brady, competency, speedy-trial, writ route.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87700-D15A-4169-A0A9-4C3CA9A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$499-$2.5k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3F142-841F-4212-84D5-6EB89EC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73410-34FD-48B8-9E4B-39FAB38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Legal aid / clinics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B2591-5FE4-42B2-AFCB-295A7E7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Reviewer handoff packet with facts, gaps, deadlines, exclusions.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CD944-BF72-4947-AFF5-EBE28E4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$750-$2.5k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927BB-91F6-41A5-8901-2B2F868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C3CA4-9E02-47B5-8EE0-D4E2CDF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Watchdog archive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60BF3-F515-458E-8B62-EA31C9A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38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Evidence ledger, actors, contradictions, public-records targets.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4DEC8-70BA-47C6-9878-615769C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$1.5k-$5k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9FCFC-4AC9-4299-8558-3FDBC477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Source map: docs/MARKET_CUSTOMER_BASES.md; LSC, RAND, ABA, Clio, Thomson Reuters.</a:t>
            </a:r>
          </a:p>
        </p:txBody>
      </p:sp>
    </p:spTree>
    <p:extLst>
      <p:ext uri="{BB962C8B-B14F-4D97-AF65-F5344CB8AC3E}">
        <p14:creationId xmlns:p14="http://schemas.microsoft.com/office/powerpoint/2010/main" val="1210293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B62A7B-AEA1-4CD1-AB9F-FE363B7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CURRENT PRODUCT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54CBB-2BC3-4AC8-97F8-39AD4D33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1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9C1C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EE199-2933-42E1-A1F7-2AC346AF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app now exposes the workflow instead of hiding the engine.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A9632-0761-4C67-8AF0-0AA55034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686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0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7D0D8"/>
                </a:solidFill>
                <a:latin typeface="Helvetica Neue"/>
                <a:ea typeface="Helvetica Neue"/>
                <a:cs typeface="Helvetica Neue"/>
              </a:rPr>
              <a:t>Cases -&gt; Corpus -&gt; Evidence -&gt; Legal Analysis -&gt; Violations -&gt; Reports -&gt; Draft Director. Broken states are supposed to be loud, because silent failure is how legal software becomes liability confetti.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F317A-DB91-46AA-9DB4-3AF97C5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0979B-35BF-4420-848D-15B4491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Multi-case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7446F-BFDF-469E-BE6D-9F4CB3E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rPr>
              <a:t>Compare matters without mixing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D84DB-C773-4F62-AAAB-E6937C53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25275-3741-468E-9787-4CBAC596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Packet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3B2BD-3ECD-486F-A42A-521A7B17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rPr>
              <a:t>Reports show ready docs, findings, blocked claims, and export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DDE9F-8D14-464B-9E42-A135F57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13623-2302-47A4-A720-EA2EB1E4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Filing Director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83871-0D3D-4C89-9FEB-A1145054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EB9C2"/>
                </a:solidFill>
                <a:latin typeface="Helvetica Neue"/>
                <a:ea typeface="Helvetica Neue"/>
                <a:cs typeface="Helvetica Neue"/>
              </a:rPr>
              <a:t>Plain-English filing command becomes structured report/draft inputs.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b3b34904c4569"/>
          <a:srcRect xmlns:a="http://schemas.openxmlformats.org/drawingml/2006/main" l="4935" t="0" r="49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895350"/>
            <a:ext cx="58102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68AE7-11D0-4528-93CF-E2CF744B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95350"/>
            <a:ext cx="581025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AE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0494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D97D7-B348-4D5F-B831-F4947C2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OUTPUT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3EB28-CF62-41B9-9264-FF02456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FE057-2FE4-4312-9B7B-ECFC2EF1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7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moat is not prettier AI prose. It is disciplined legal posture.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76204-311E-4996-A492-9A14C9D1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857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A139C-BB6D-4B80-934E-7FC7138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Source-bound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211D5-E7FD-48D3-9FE5-D37854C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Every record-supported finding needs quote/source anchors, file names, document IDs, confidence, and QC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8CF92-12B8-47BB-B075-DD76336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4857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96CE3-21A2-49DC-B594-DB4AE735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Court-safe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0743-126F-4DF1-95E0-BD6B63FD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Inferences stay inferences. Missing records become demands. Adverse facts are captured instead of buried.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8D064-E907-4E3E-9647-6B1F3BC7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857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6A0D4-00ED-400B-9C9E-9578BBA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Mandamus-grade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201C0-615D-4A10-BD04-2E9A07B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Clear duty, refusal/delay, beneficial interest, no adequate ordinary remedy, appendix proof, narrow command.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CC546-7B16-4321-830C-5AB3095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857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BF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4336C-119C-4E1C-ACBC-F124A64A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Appellate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84B82-F1DA-4E8A-A6CC-681E0085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Issue, rule, record facts, application, limits, adverse facts, requested disposition.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66894-EC0B-46E3-A771-FBD6AE8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ABA Formal Opinion 512 reinforces competence, confidentiality, supervision, communication, and verification concerns for lawyer AI use.</a:t>
            </a:r>
          </a:p>
        </p:txBody>
      </p:sp>
    </p:spTree>
    <p:extLst>
      <p:ext uri="{BB962C8B-B14F-4D97-AF65-F5344CB8AC3E}">
        <p14:creationId xmlns:p14="http://schemas.microsoft.com/office/powerpoint/2010/main" val="1387735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EAC43-F190-46AE-9ABB-A0D6930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MARKET OPERATING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8509A-C87A-40E3-B54C-FA5E4C85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3CD8-6C7D-4AA9-B954-28D8845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36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Market research became a product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8D2FE-61EC-4B31-BD4D-70B00C9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The board answers: what proof can sell now, which customer lane is closest, what artifact proves value outside the app, and what blocker prevents responsible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3FFBA-F432-4B3E-AB9A-3966E89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4095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1016"/>
          </a:solidFill>
          <a:ln xmlns:a="http://schemas.openxmlformats.org/drawingml/2006/main" w="9525">
            <a:solidFill>
              <a:srgbClr val="263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FF18D-B23D-42A1-BD85-998ECEEA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Current 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0C32D-1A1B-4F4C-B4FB-C83EBEF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Sell Pro se Case Builder first, but only as a proof packet.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bf268a0de44a7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876300"/>
            <a:ext cx="590550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BA76D-0E2C-41E8-9346-D964F680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76300"/>
            <a:ext cx="5905500" cy="4457700"/>
          </a:xfrm>
          <a:prstGeom xmlns:a="http://schemas.openxmlformats.org/drawingml/2006/main" prst="roundRect">
            <a:avLst>
              <a:gd name="adj" fmla="val 25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6BFB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6593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F7F21-437B-47B0-8F00-1A82694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MONETIZATION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5F781-93EC-4E97-BD4E-E74FEB2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7227F-A938-4E1D-9938-C8570D0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0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Make money by selling judgment-ready artifacts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7AFDC-137F-4414-B412-0EA3545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92849-9527-45CD-B9C3-07D7C33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C76DB-17B8-4C9E-A953-3DBE0C4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Price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8D878-88EF-46AB-8766-4FA6439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Close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6FDD8-5B27-487E-A4AB-70336EC9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76074-2C4A-4600-978F-E0DFCED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One-case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3E811-78E1-41A5-B2C0-6570D16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Pro se / family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869EC-077E-4886-85FB-98213075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$149 packet or $99/mo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7B139-9E18-4284-B885-4EC6EEB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Needs stranger-readable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F77CA-1269-4212-A3C1-42D1E54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11726-CA60-44B6-B9B1-6B36986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Civil-rights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6468A-3691-4138-89AD-BBD0A20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Owner attorney /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69F12-0DB6-40F0-AD01-F2F3CFEE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$499-$1,500 matter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EF645-C146-4E67-85FD-4879E8A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Needs measured review-time delta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18228-1655-4F01-86C4-6CFAE555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14048-DD98-4922-9671-0805D9D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Firm usage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F1E83-F19F-456B-83BC-A63C0645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Small firms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94C23-FAE8-4645-AE0A-15EA6A59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$199/mo base + usage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74CDB-DAA4-4169-B6FB-C559C4E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Needs Stripe/tier enforcement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9D850-F3FE-441A-BFC4-A79ADC47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EF0CD-55EE-4080-A89F-BCF0B60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Clinic 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C5FE8-2326-4CEB-A736-8707D92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2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Legal-aid / law schools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9E2AA-99BC-45AD-B162-99F03212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$750-$2,500 pilot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BFBC1-FE80-42A5-AFDE-57BEE86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24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Needs reviewer notes and role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1AE27-6C1C-4093-9A28-C403040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C430F-7422-4177-A5F1-A86FAE1A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Archive/API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10DE4-D754-4834-8BFC-72C7EBB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Watchdogs / legal-tech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C0727-5F83-4BCC-9E0E-E5E47B7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$1,500-$5,000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2716D-71F4-40EA-BF81-99DC6C7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10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Needs tenant keys, webhooks, SDK</a:t>
            </a:r>
          </a:p>
        </p:txBody>
      </p:sp>
    </p:spTree>
    <p:extLst>
      <p:ext uri="{BB962C8B-B14F-4D97-AF65-F5344CB8AC3E}">
        <p14:creationId xmlns:p14="http://schemas.microsoft.com/office/powerpoint/2010/main" val="427911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42A5C-C55D-44C4-A7EA-57359FF9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15051-B435-441C-967A-E46C3227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60C8D-A786-472E-A0A8-39AFA8F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next work is boring in exactly the profitable 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BBFDE-0BFA-415F-BC8D-DE6FDEF2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AABC0-8AFA-4165-AAC5-8DC6F1A4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B0"/>
          </a:solidFill>
          <a:ln xmlns:a="http://schemas.openxmlformats.org/drawingml/2006/main" w="0">
            <a:solidFill>
              <a:srgbClr val="C6BF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6FA84-CC2E-46CE-82C7-3BFDD934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Prove selected-file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E309-CB44-49E1-B8E9-AADA14AF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Run 3-5 real docs through findings -&gt; QC -&gt; report. No handwaving.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CB574-F6A0-4545-8B0A-F16498CC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17944-0A00-4CE7-AE42-AED42FEC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B0"/>
          </a:solidFill>
          <a:ln xmlns:a="http://schemas.openxmlformats.org/drawingml/2006/main" w="0">
            <a:solidFill>
              <a:srgbClr val="C6BF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43639-0B39-49F3-889B-D9CD856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Harden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8555D-2117-41AB-8DBE-6817429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OCR states, retry, duplicate consolidation, text preview, source hash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DDB80-DC7E-40C0-A776-AAC5301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79AD0-F0DC-416B-9482-FF3C502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B0"/>
          </a:solidFill>
          <a:ln xmlns:a="http://schemas.openxmlformats.org/drawingml/2006/main" w="0">
            <a:solidFill>
              <a:srgbClr val="C6BF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FF56D-1BBD-4B64-AFE6-62E27519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99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Export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33572-77DC-4E7B-9795-81AFB0A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Pleading paper PDF, DOCX, source appendix, reliability certificate.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85838-FBD3-4983-8192-7C6CFD8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9A942-57F5-44D7-8084-4289098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B0"/>
          </a:solidFill>
          <a:ln xmlns:a="http://schemas.openxmlformats.org/drawingml/2006/main" w="0">
            <a:solidFill>
              <a:srgbClr val="C6BF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07C24-F933-4833-9800-7E385AAC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Billing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F2AB6-0F8D-48B9-AB7A-2ED1A0E3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Stripe products, server-side limits, usage telemetry, firm metering.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A774D-4BE1-4C49-8F52-CAEAEE1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DBEFA-8CF5-4AAA-9206-69F7DABE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62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D32C0-B14F-43B2-8DC6-56E7796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99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Pilot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4ACA2-AE86-48AC-9253-775ADCA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Put packets in front of buyers and capture what they missed, trusted, or hated.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90197-635E-4C40-B7DB-F59ADC93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Private beta first. Public release only after auth isolation, unsupported-claim blocking, billing/tier matches, and OCR failure visibility are proven.</a:t>
            </a:r>
          </a:p>
        </p:txBody>
      </p:sp>
    </p:spTree>
    <p:extLst>
      <p:ext uri="{BB962C8B-B14F-4D97-AF65-F5344CB8AC3E}">
        <p14:creationId xmlns:p14="http://schemas.microsoft.com/office/powerpoint/2010/main" val="1241400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8C148-576A-48B4-9227-3A7CF02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4627B-A11B-48BD-A060-3939D6C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1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9C1C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FD8B6-EE47-4C98-B79C-6590C9DB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alpha. Private-beta credible. Not public-release safe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0BE74-ED65-4306-B160-DF8FB6B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92"/>
          </a:solidFill>
          <a:ln xmlns:a="http://schemas.openxmlformats.org/drawingml/2006/main" w="0">
            <a:solidFill>
              <a:srgbClr val="2BBF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D72A1-9E24-4EC6-93D8-7BCC78D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BF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BBF92"/>
                </a:solidFill>
                <a:latin typeface="Helvetica Neue"/>
                <a:ea typeface="Helvetica Neue"/>
                <a:cs typeface="Helvetica Neue"/>
              </a:rPr>
              <a:t>Green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2C583-F2A4-45EB-9D84-CC6433A1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rPr>
              <a:t>Core app starts locally; reports, market board, Draft Director, and violations routes render.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C249F-9F49-4E68-ABC4-53384E7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92"/>
          </a:solidFill>
          <a:ln xmlns:a="http://schemas.openxmlformats.org/drawingml/2006/main" w="0">
            <a:solidFill>
              <a:srgbClr val="2BBF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BC20A-8913-441B-BA33-023BB463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BF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BBF92"/>
                </a:solidFill>
                <a:latin typeface="Helvetica Neue"/>
                <a:ea typeface="Helvetica Neue"/>
                <a:cs typeface="Helvetica Neue"/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90209-9CAF-44D0-BB9F-933A521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rPr>
              <a:t>Structured findings, QC, saved reports, token telemetry, and protected exports exist in backend shape.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715AC-652E-444B-ACCC-6C4FC4D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592C-21D4-4C3E-92B6-F74972E2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Yellow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F9FDD-C2DD-4AEC-B5B1-4CE2CEB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385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rPr>
              <a:t>Must prove ugly upload-to-export path on real scanned/duplicated/mixed 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B110B-5629-4981-9056-8969D9A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2387F-75D5-4740-B266-C1CE8A21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A48"/>
                </a:solidFill>
                <a:latin typeface="Helvetica Neue"/>
                <a:ea typeface="Helvetica Neue"/>
                <a:cs typeface="Helvetica Neue"/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157C1-3097-4030-ABF5-62ABC6C5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386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1D8"/>
                </a:solidFill>
                <a:latin typeface="Helvetica Neue"/>
                <a:ea typeface="Helvetica Neue"/>
                <a:cs typeface="Helvetica Neue"/>
              </a:rPr>
              <a:t>Stripe price IDs, tier enforcement polish, and final release monitors still decide whether this can charge safely.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7CAC7-CEBE-4F89-A01D-94B68D4B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9A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8F9AA4"/>
                </a:solidFill>
                <a:latin typeface="Helvetica Neue"/>
                <a:ea typeface="Helvetica Neue"/>
                <a:cs typeface="Helvetica Neue"/>
              </a:rPr>
              <a:t>Repo proof used: current docs, report generator contracts, route screenshots, and prior private-beta execution report.</a:t>
            </a:r>
          </a:p>
        </p:txBody>
      </p:sp>
    </p:spTree>
    <p:extLst>
      <p:ext uri="{BB962C8B-B14F-4D97-AF65-F5344CB8AC3E}">
        <p14:creationId xmlns:p14="http://schemas.microsoft.com/office/powerpoint/2010/main" val="54689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07E28-8885-4C97-B399-C7DA945D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NEXT 30 CONVERSATIONS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85E05-ACE8-4F5B-928E-22F2921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0E1B5-7E43-4062-8AC5-4BF65F9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66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ask is not money first. It is brutal packet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DE13-CFF7-4253-BC38-0644E7ED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14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Put one exported packet in front of each buyer lane and ask four questions: what did it miss, what did it overclaim, what did it make faster, and what would make you pay?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8F6DA-12C2-4F86-93F4-D6E2CDAD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3BF5-F949-4F26-BC35-B36851E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19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Police accountability / civil-rights firms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A05EC-2D4B-4EB7-BE04-5C8C3B4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0E29E-0F68-49FB-A07F-820F4BB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00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Legal aid and clinic intake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CC098-801F-4FC8-9683-38D614D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669AC-B534-4035-92EF-FB20851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Defense, habeas, innocence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7BB9E-914D-4864-B567-D68C159A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B3502-008D-4B81-9087-859DB99A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0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Pro se support and law-library ecosystems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F5E5E-B026-4083-A941-CB1CA2D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447BD-358C-4ABD-AB1B-237C628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Watchdogs and public-records teams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FDE14-D7E8-427E-85CE-E878AE7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7AE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03CF1-DFE1-44A7-B5CF-7B4B34E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Archive and API integration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4B75-0563-450D-BD65-AC527D6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293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Rule: every conversation starts with an exported artifact, not a feature tour.</a:t>
            </a:r>
          </a:p>
        </p:txBody>
      </p:sp>
    </p:spTree>
    <p:extLst>
      <p:ext uri="{BB962C8B-B14F-4D97-AF65-F5344CB8AC3E}">
        <p14:creationId xmlns:p14="http://schemas.microsoft.com/office/powerpoint/2010/main" val="6165465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68461-04CC-45EC-8E30-A3A2598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SOURCES AND PROOF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DAC83-7DF9-4309-B0EB-7AF63D6E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10C24-935E-4AFE-AD86-A7E57D2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Sources 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B8C9-E640-4885-998A-777BC34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680A0-EBDF-4C23-AFEC-AA63C6F0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906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Legal Services Corporation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CD773-298A-48F1-B229-53A34C74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Justice Gap executive summary: 92% unmet substantial civil legal problems; legal-aid turn-away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8E887-E6A6-4552-97CC-BC8E017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28D25-85C1-4D73-A4E8-143B543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906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Thomson Reuters Institute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D22E1-B177-404C-BD1F-DB94ECE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2026 AI in Professional Services Report: adoption, workflow shift, ROI measurement gap.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3391D-A97D-4F2B-B4BA-B33516FD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16907-1489-4ACC-814C-4706200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06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ABA Formal Opinion 512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9930B-38AF-46A6-A771-6C18F45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Competence, confidentiality, supervision, communication, and verification obligations around generative 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B07F4-ABA2-4CAF-B08A-D7AF0228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D33C5-0BE6-4375-B081-6E2643E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06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15357-8305-4FFD-B88E-B7BBD89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National Public Defense Workload Study: excessive caseloads, digital discovery, modern defense workload pressure.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BD3DB-4220-4D1D-8CB7-14CBF0B2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4F"/>
          </a:solidFill>
          <a:ln xmlns:a="http://schemas.openxmlformats.org/drawingml/2006/main" w="0">
            <a:solidFill>
              <a:srgbClr val="D7AE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65610-34D8-45F5-8C73-5CC9943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06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DueProcess repo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E37F0-8543-4F8F-832F-CC08F5A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2"/>
                </a:solidFill>
                <a:latin typeface="Helvetica Neue"/>
                <a:ea typeface="Helvetica Neue"/>
                <a:cs typeface="Helvetica Neue"/>
              </a:rPr>
              <a:t>Market map, mandamus skill, senior handoff, private-beta execution report, and live route screenshots.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7E2F4-6AD4-4CDD-A5DF-F1A3060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Deck conclusion: sell source-bound packets first; keep broad platform claims behind proof gates.</a:t>
            </a:r>
          </a:p>
        </p:txBody>
      </p:sp>
    </p:spTree>
    <p:extLst>
      <p:ext uri="{BB962C8B-B14F-4D97-AF65-F5344CB8AC3E}">
        <p14:creationId xmlns:p14="http://schemas.microsoft.com/office/powerpoint/2010/main" val="1791306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2026-06-30T11:45:21.8960000Z</dcterms:created>
  <dcterms:modified xsi:type="dcterms:W3CDTF">2026-06-30T11:45:21.8960000Z</dcterms:modified>
</coreProperties>
</file>